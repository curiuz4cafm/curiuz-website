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Curiuz Technologies brand identity system, version 1.0, built on the primary wordmark concept.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primary lockup: brand bar, CURIUZ in Space Grotesk, Technologies descriptor. The accent bar is the spark of curiosity.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approved constructions: primary lockup, compact horizontal, stacked, and the standalone brand icon.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mark holds up across six contexts: paper, navy, accent, mono ink, knockout white, and busy backgrounds.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Clearspace equals the cap-height X on all sides. Minimum sizes protect legibility; below the digital minimum, use the icon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 icon, avatar, tile and favicon. The bar plus C keeps the brand recognizable down to 32 pixels.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Four-color palette: Deep Navy for text, Ember as the single accent, Paper for backgrounds, Slate for secondary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Space Grotesk carries the brand and headlines; IBM Plex Sans handles body and 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identity lives in the wild: website header, business card, and social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product family: Premyz reuses the bar and typeface with a distinct Iris hue, so it reads as part of Curiuz while standing on its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things never to do: skew or distort, recolor freely, swap the typeface, or place on low-contrast backgrounds.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47750"/>
            <a:ext cx="580794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429" kern="0" dirty="0">
                <a:solidFill>
                  <a:srgbClr val="5B64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BRAND IDENTITY · LOGO PACK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5636240" y="1047750"/>
            <a:ext cx="165963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B64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v1.0 · 2026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43000" y="4133850"/>
            <a:ext cx="209550" cy="1905000"/>
          </a:xfrm>
          <a:prstGeom prst="roundRect">
            <a:avLst>
              <a:gd name="adj" fmla="val 50000"/>
            </a:avLst>
          </a:prstGeom>
          <a:solidFill>
            <a:srgbClr val="C85B32"/>
          </a:solidFill>
          <a:ln/>
        </p:spPr>
      </p:sp>
      <p:sp>
        <p:nvSpPr>
          <p:cNvPr id="5" name="Text 3"/>
          <p:cNvSpPr/>
          <p:nvPr/>
        </p:nvSpPr>
        <p:spPr>
          <a:xfrm>
            <a:off x="1733550" y="3935730"/>
            <a:ext cx="6751701" cy="1615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125"/>
              </a:lnSpc>
              <a:buNone/>
            </a:pPr>
            <a:r>
              <a:rPr lang="en-US" sz="13500" b="1" spc="270" kern="0" dirty="0">
                <a:solidFill>
                  <a:srgbClr val="1023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CURIUZ</a:t>
            </a:r>
            <a:endParaRPr lang="en-US" sz="13500" dirty="0"/>
          </a:p>
        </p:txBody>
      </p:sp>
      <p:sp>
        <p:nvSpPr>
          <p:cNvPr id="6" name="Text 4"/>
          <p:cNvSpPr/>
          <p:nvPr/>
        </p:nvSpPr>
        <p:spPr>
          <a:xfrm>
            <a:off x="1733550" y="5703570"/>
            <a:ext cx="675170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spc="1452" kern="0" dirty="0">
                <a:solidFill>
                  <a:srgbClr val="5B647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TECHNOLOGIES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143000" y="8804910"/>
            <a:ext cx="17602200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spc="54" kern="0" dirty="0">
                <a:solidFill>
                  <a:srgbClr val="B74B2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Think Forward.</a:t>
            </a:r>
            <a:endParaRPr lang="en-US" sz="2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59679" y="3627120"/>
            <a:ext cx="480550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468" kern="0" dirty="0">
                <a:solidFill>
                  <a:srgbClr val="F280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— THE PRIMARY MARK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6655237" y="5017770"/>
            <a:ext cx="152400" cy="1428750"/>
          </a:xfrm>
          <a:prstGeom prst="roundRect">
            <a:avLst>
              <a:gd name="adj" fmla="val 50000"/>
            </a:avLst>
          </a:prstGeom>
          <a:solidFill>
            <a:srgbClr val="F28058"/>
          </a:solidFill>
          <a:ln/>
        </p:spPr>
      </p:sp>
      <p:sp>
        <p:nvSpPr>
          <p:cNvPr id="4" name="Text 2"/>
          <p:cNvSpPr/>
          <p:nvPr/>
        </p:nvSpPr>
        <p:spPr>
          <a:xfrm>
            <a:off x="7131487" y="4804410"/>
            <a:ext cx="4951274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571"/>
              </a:lnSpc>
              <a:buNone/>
            </a:pPr>
            <a:r>
              <a:rPr lang="en-US" sz="9900" b="1" spc="198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CURIUZ</a:t>
            </a:r>
            <a:endParaRPr lang="en-US" sz="9900" dirty="0"/>
          </a:p>
        </p:txBody>
      </p:sp>
      <p:sp>
        <p:nvSpPr>
          <p:cNvPr id="5" name="Text 3"/>
          <p:cNvSpPr/>
          <p:nvPr/>
        </p:nvSpPr>
        <p:spPr>
          <a:xfrm>
            <a:off x="7131487" y="6271260"/>
            <a:ext cx="4951274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spc="1104" kern="0" dirty="0">
                <a:solidFill>
                  <a:srgbClr val="9FB0C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TECHNOLOGIES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90" kern="0" dirty="0">
                <a:solidFill>
                  <a:srgbClr val="B74B2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— MARKS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443990"/>
            <a:ext cx="17602200" cy="815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023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Logo variations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792730"/>
            <a:ext cx="7829550" cy="2851785"/>
          </a:xfrm>
          <a:prstGeom prst="roundRect">
            <a:avLst>
              <a:gd name="adj" fmla="val 668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3857744" y="3557588"/>
            <a:ext cx="95250" cy="704850"/>
          </a:xfrm>
          <a:prstGeom prst="roundRect">
            <a:avLst>
              <a:gd name="adj" fmla="val 50000"/>
            </a:avLst>
          </a:prstGeom>
          <a:solidFill>
            <a:srgbClr val="C85B32"/>
          </a:solidFill>
          <a:ln/>
        </p:spPr>
      </p:sp>
      <p:sp>
        <p:nvSpPr>
          <p:cNvPr id="6" name="Text 4"/>
          <p:cNvSpPr/>
          <p:nvPr/>
        </p:nvSpPr>
        <p:spPr>
          <a:xfrm>
            <a:off x="4143494" y="3474720"/>
            <a:ext cx="232561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283"/>
              </a:lnSpc>
              <a:buNone/>
            </a:pPr>
            <a:r>
              <a:rPr lang="en-US" sz="4650" b="1" spc="93" kern="0" dirty="0">
                <a:solidFill>
                  <a:srgbClr val="1023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CURIUZ</a:t>
            </a:r>
            <a:endParaRPr lang="en-US" sz="4650" dirty="0"/>
          </a:p>
        </p:txBody>
      </p:sp>
      <p:sp>
        <p:nvSpPr>
          <p:cNvPr id="7" name="Text 5"/>
          <p:cNvSpPr/>
          <p:nvPr/>
        </p:nvSpPr>
        <p:spPr>
          <a:xfrm>
            <a:off x="4143494" y="4170045"/>
            <a:ext cx="2325612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95" kern="0" dirty="0">
                <a:solidFill>
                  <a:srgbClr val="5B647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TECHNOLOGIES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4030980" y="4688205"/>
            <a:ext cx="225894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A7A2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PRIMARY LOCKUP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9315450" y="2792730"/>
            <a:ext cx="7829550" cy="2851785"/>
          </a:xfrm>
          <a:prstGeom prst="roundRect">
            <a:avLst>
              <a:gd name="adj" fmla="val 6680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2156281" y="3681413"/>
            <a:ext cx="85725" cy="457200"/>
          </a:xfrm>
          <a:prstGeom prst="roundRect">
            <a:avLst>
              <a:gd name="adj" fmla="val 50000"/>
            </a:avLst>
          </a:prstGeom>
          <a:solidFill>
            <a:srgbClr val="C85B32"/>
          </a:solidFill>
          <a:ln/>
        </p:spPr>
      </p:sp>
      <p:sp>
        <p:nvSpPr>
          <p:cNvPr id="11" name="Text 9"/>
          <p:cNvSpPr/>
          <p:nvPr/>
        </p:nvSpPr>
        <p:spPr>
          <a:xfrm>
            <a:off x="12394406" y="3570922"/>
            <a:ext cx="2100608" cy="71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spc="84" kern="0" dirty="0">
                <a:solidFill>
                  <a:srgbClr val="1023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CURIUZ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11763375" y="4592003"/>
            <a:ext cx="322707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A7A2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HORIZONTAL / COMPACT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143000" y="5987415"/>
            <a:ext cx="7829550" cy="3347085"/>
          </a:xfrm>
          <a:prstGeom prst="roundRect">
            <a:avLst>
              <a:gd name="adj" fmla="val 5692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010031" y="6669405"/>
            <a:ext cx="95250" cy="381000"/>
          </a:xfrm>
          <a:prstGeom prst="roundRect">
            <a:avLst>
              <a:gd name="adj" fmla="val 50000"/>
            </a:avLst>
          </a:prstGeom>
          <a:solidFill>
            <a:srgbClr val="C85B32"/>
          </a:solidFill>
          <a:ln/>
        </p:spPr>
      </p:sp>
      <p:sp>
        <p:nvSpPr>
          <p:cNvPr id="15" name="Text 13"/>
          <p:cNvSpPr/>
          <p:nvPr/>
        </p:nvSpPr>
        <p:spPr>
          <a:xfrm>
            <a:off x="4007412" y="7221855"/>
            <a:ext cx="210060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8652"/>
              </a:lnSpc>
              <a:buNone/>
            </a:pPr>
            <a:r>
              <a:rPr lang="en-US" sz="4200" b="1" spc="84" kern="0" dirty="0">
                <a:solidFill>
                  <a:srgbClr val="1023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CURIUZ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4007412" y="7879080"/>
            <a:ext cx="2100608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spc="472" kern="0" dirty="0">
                <a:solidFill>
                  <a:srgbClr val="5B647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TECHNOLOGIES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3737610" y="8378190"/>
            <a:ext cx="290436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A7A2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STACKED / CENTERED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9315450" y="5987415"/>
            <a:ext cx="7829550" cy="3347085"/>
          </a:xfrm>
          <a:prstGeom prst="roundRect">
            <a:avLst>
              <a:gd name="adj" fmla="val 5692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12911376" y="7028498"/>
            <a:ext cx="104775" cy="666750"/>
          </a:xfrm>
          <a:prstGeom prst="roundRect">
            <a:avLst>
              <a:gd name="adj" fmla="val 45455"/>
            </a:avLst>
          </a:prstGeom>
          <a:solidFill>
            <a:srgbClr val="C85B32"/>
          </a:solidFill>
          <a:ln/>
        </p:spPr>
      </p:sp>
      <p:sp>
        <p:nvSpPr>
          <p:cNvPr id="20" name="Text 18"/>
          <p:cNvSpPr/>
          <p:nvPr/>
        </p:nvSpPr>
        <p:spPr>
          <a:xfrm>
            <a:off x="13082826" y="6900863"/>
            <a:ext cx="542449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023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</a:t>
            </a:r>
            <a:endParaRPr lang="en-US" sz="5700" dirty="0"/>
          </a:p>
        </p:txBody>
      </p:sp>
      <p:sp>
        <p:nvSpPr>
          <p:cNvPr id="21" name="Text 19"/>
          <p:cNvSpPr/>
          <p:nvPr/>
        </p:nvSpPr>
        <p:spPr>
          <a:xfrm>
            <a:off x="12496800" y="8146732"/>
            <a:ext cx="161353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A7A2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BRAND ICON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90" kern="0" dirty="0">
                <a:solidFill>
                  <a:srgbClr val="B74B2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— COLOR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443990"/>
            <a:ext cx="17602200" cy="815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023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Color variations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754630"/>
            <a:ext cx="5130761" cy="2596515"/>
          </a:xfrm>
          <a:prstGeom prst="rect">
            <a:avLst/>
          </a:prstGeom>
          <a:solidFill>
            <a:srgbClr val="F7F6F3"/>
          </a:solidFill>
          <a:ln w="7620">
            <a:solidFill>
              <a:srgbClr val="E4E2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87504" y="3805237"/>
            <a:ext cx="76200" cy="495300"/>
          </a:xfrm>
          <a:prstGeom prst="roundRect">
            <a:avLst>
              <a:gd name="adj" fmla="val 50000"/>
            </a:avLst>
          </a:prstGeom>
          <a:solidFill>
            <a:srgbClr val="C85B32"/>
          </a:solidFill>
          <a:ln/>
        </p:spPr>
      </p:sp>
      <p:sp>
        <p:nvSpPr>
          <p:cNvPr id="6" name="Text 4"/>
          <p:cNvSpPr/>
          <p:nvPr/>
        </p:nvSpPr>
        <p:spPr>
          <a:xfrm>
            <a:off x="3097054" y="3746183"/>
            <a:ext cx="157542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358"/>
              </a:lnSpc>
              <a:buNone/>
            </a:pPr>
            <a:r>
              <a:rPr lang="en-US" sz="3150" b="1" spc="63" kern="0" dirty="0">
                <a:solidFill>
                  <a:srgbClr val="1023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CURIUZ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3097054" y="4222433"/>
            <a:ext cx="1575423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330" kern="0" dirty="0">
                <a:solidFill>
                  <a:srgbClr val="5B647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TECHNOLOGIES</a:t>
            </a:r>
            <a:endParaRPr lang="en-US" sz="825" dirty="0"/>
          </a:p>
        </p:txBody>
      </p:sp>
      <p:sp>
        <p:nvSpPr>
          <p:cNvPr id="8" name="Shape 6"/>
          <p:cNvSpPr/>
          <p:nvPr/>
        </p:nvSpPr>
        <p:spPr>
          <a:xfrm>
            <a:off x="1143000" y="5351145"/>
            <a:ext cx="5130761" cy="5410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5503545"/>
            <a:ext cx="490368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B64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 paper</a:t>
            </a:r>
            <a:endParaRPr lang="en-US" sz="1425" dirty="0"/>
          </a:p>
        </p:txBody>
      </p:sp>
      <p:sp>
        <p:nvSpPr>
          <p:cNvPr id="10" name="Shape 8"/>
          <p:cNvSpPr/>
          <p:nvPr/>
        </p:nvSpPr>
        <p:spPr>
          <a:xfrm>
            <a:off x="6578561" y="2754630"/>
            <a:ext cx="5130761" cy="2596515"/>
          </a:xfrm>
          <a:prstGeom prst="rect">
            <a:avLst/>
          </a:prstGeom>
          <a:solidFill>
            <a:srgbClr val="10233B"/>
          </a:solidFill>
          <a:ln/>
        </p:spPr>
      </p:sp>
      <p:sp>
        <p:nvSpPr>
          <p:cNvPr id="11" name="Shape 9"/>
          <p:cNvSpPr/>
          <p:nvPr/>
        </p:nvSpPr>
        <p:spPr>
          <a:xfrm>
            <a:off x="8323064" y="3805237"/>
            <a:ext cx="76200" cy="495300"/>
          </a:xfrm>
          <a:prstGeom prst="roundRect">
            <a:avLst>
              <a:gd name="adj" fmla="val 50000"/>
            </a:avLst>
          </a:prstGeom>
          <a:solidFill>
            <a:srgbClr val="F28058"/>
          </a:solidFill>
          <a:ln/>
        </p:spPr>
      </p:sp>
      <p:sp>
        <p:nvSpPr>
          <p:cNvPr id="12" name="Text 10"/>
          <p:cNvSpPr/>
          <p:nvPr/>
        </p:nvSpPr>
        <p:spPr>
          <a:xfrm>
            <a:off x="8532614" y="3746183"/>
            <a:ext cx="157542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358"/>
              </a:lnSpc>
              <a:buNone/>
            </a:pPr>
            <a:r>
              <a:rPr lang="en-US" sz="3150" b="1" spc="63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CURIUZ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8532614" y="4222433"/>
            <a:ext cx="1575423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330" kern="0" dirty="0">
                <a:solidFill>
                  <a:srgbClr val="9FB0C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TECHNOLOGIES</a:t>
            </a:r>
            <a:endParaRPr lang="en-US" sz="825" dirty="0"/>
          </a:p>
        </p:txBody>
      </p:sp>
      <p:sp>
        <p:nvSpPr>
          <p:cNvPr id="14" name="Shape 12"/>
          <p:cNvSpPr/>
          <p:nvPr/>
        </p:nvSpPr>
        <p:spPr>
          <a:xfrm>
            <a:off x="6578561" y="5351145"/>
            <a:ext cx="5130761" cy="5410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769061" y="5503545"/>
            <a:ext cx="490368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B64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Reversed on navy</a:t>
            </a:r>
            <a:endParaRPr lang="en-US" sz="1425" dirty="0"/>
          </a:p>
        </p:txBody>
      </p:sp>
      <p:sp>
        <p:nvSpPr>
          <p:cNvPr id="16" name="Shape 14"/>
          <p:cNvSpPr/>
          <p:nvPr/>
        </p:nvSpPr>
        <p:spPr>
          <a:xfrm>
            <a:off x="12014121" y="2754630"/>
            <a:ext cx="5130761" cy="2596515"/>
          </a:xfrm>
          <a:prstGeom prst="rect">
            <a:avLst/>
          </a:prstGeom>
          <a:solidFill>
            <a:srgbClr val="C85B32"/>
          </a:solidFill>
          <a:ln/>
        </p:spPr>
      </p:sp>
      <p:sp>
        <p:nvSpPr>
          <p:cNvPr id="17" name="Shape 15"/>
          <p:cNvSpPr/>
          <p:nvPr/>
        </p:nvSpPr>
        <p:spPr>
          <a:xfrm>
            <a:off x="13758624" y="3805237"/>
            <a:ext cx="76200" cy="495300"/>
          </a:xfrm>
          <a:prstGeom prst="roundRect">
            <a:avLst>
              <a:gd name="adj" fmla="val 50000"/>
            </a:avLst>
          </a:prstGeom>
          <a:solidFill>
            <a:srgbClr val="10233B"/>
          </a:solidFill>
          <a:ln/>
        </p:spPr>
      </p:sp>
      <p:sp>
        <p:nvSpPr>
          <p:cNvPr id="18" name="Text 16"/>
          <p:cNvSpPr/>
          <p:nvPr/>
        </p:nvSpPr>
        <p:spPr>
          <a:xfrm>
            <a:off x="13968174" y="3746183"/>
            <a:ext cx="157542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358"/>
              </a:lnSpc>
              <a:buNone/>
            </a:pPr>
            <a:r>
              <a:rPr lang="en-US" sz="3150" b="1" spc="63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CURIUZ</a:t>
            </a:r>
            <a:endParaRPr lang="en-US" sz="3150" dirty="0"/>
          </a:p>
        </p:txBody>
      </p:sp>
      <p:sp>
        <p:nvSpPr>
          <p:cNvPr id="19" name="Text 17"/>
          <p:cNvSpPr/>
          <p:nvPr/>
        </p:nvSpPr>
        <p:spPr>
          <a:xfrm>
            <a:off x="13968174" y="4222433"/>
            <a:ext cx="1575423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330" kern="0" dirty="0">
                <a:solidFill>
                  <a:srgbClr val="3A1A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TECHNOLOGIES</a:t>
            </a:r>
            <a:endParaRPr lang="en-US" sz="825" dirty="0"/>
          </a:p>
        </p:txBody>
      </p:sp>
      <p:sp>
        <p:nvSpPr>
          <p:cNvPr id="20" name="Shape 18"/>
          <p:cNvSpPr/>
          <p:nvPr/>
        </p:nvSpPr>
        <p:spPr>
          <a:xfrm>
            <a:off x="12014121" y="5351145"/>
            <a:ext cx="5130761" cy="5410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2204621" y="5503545"/>
            <a:ext cx="490368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B64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 accent (Ember)</a:t>
            </a:r>
            <a:endParaRPr lang="en-US" sz="1425" dirty="0"/>
          </a:p>
        </p:txBody>
      </p:sp>
      <p:sp>
        <p:nvSpPr>
          <p:cNvPr id="22" name="Shape 20"/>
          <p:cNvSpPr/>
          <p:nvPr/>
        </p:nvSpPr>
        <p:spPr>
          <a:xfrm>
            <a:off x="1143000" y="6196965"/>
            <a:ext cx="5130761" cy="2596515"/>
          </a:xfrm>
          <a:prstGeom prst="rect">
            <a:avLst/>
          </a:prstGeom>
          <a:solidFill>
            <a:srgbClr val="FFFFFF"/>
          </a:solidFill>
          <a:ln w="7620">
            <a:solidFill>
              <a:srgbClr val="E4E2D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87504" y="7247573"/>
            <a:ext cx="76200" cy="495300"/>
          </a:xfrm>
          <a:prstGeom prst="roundRect">
            <a:avLst>
              <a:gd name="adj" fmla="val 50000"/>
            </a:avLst>
          </a:prstGeom>
          <a:solidFill>
            <a:srgbClr val="10233B"/>
          </a:solidFill>
          <a:ln/>
        </p:spPr>
      </p:sp>
      <p:sp>
        <p:nvSpPr>
          <p:cNvPr id="24" name="Text 22"/>
          <p:cNvSpPr/>
          <p:nvPr/>
        </p:nvSpPr>
        <p:spPr>
          <a:xfrm>
            <a:off x="3097054" y="7188518"/>
            <a:ext cx="157542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358"/>
              </a:lnSpc>
              <a:buNone/>
            </a:pPr>
            <a:r>
              <a:rPr lang="en-US" sz="3150" b="1" spc="63" kern="0" dirty="0">
                <a:solidFill>
                  <a:srgbClr val="1023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CURIUZ</a:t>
            </a:r>
            <a:endParaRPr lang="en-US" sz="3150" dirty="0"/>
          </a:p>
        </p:txBody>
      </p:sp>
      <p:sp>
        <p:nvSpPr>
          <p:cNvPr id="25" name="Text 23"/>
          <p:cNvSpPr/>
          <p:nvPr/>
        </p:nvSpPr>
        <p:spPr>
          <a:xfrm>
            <a:off x="3097054" y="7664768"/>
            <a:ext cx="1575423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330" kern="0" dirty="0">
                <a:solidFill>
                  <a:srgbClr val="1023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TECHNOLOGIES</a:t>
            </a:r>
            <a:endParaRPr lang="en-US" sz="825" dirty="0"/>
          </a:p>
        </p:txBody>
      </p:sp>
      <p:sp>
        <p:nvSpPr>
          <p:cNvPr id="26" name="Shape 24"/>
          <p:cNvSpPr/>
          <p:nvPr/>
        </p:nvSpPr>
        <p:spPr>
          <a:xfrm>
            <a:off x="1143000" y="8793480"/>
            <a:ext cx="5130761" cy="541020"/>
          </a:xfrm>
          <a:prstGeom prst="rect">
            <a:avLst/>
          </a:prstGeom>
          <a:solidFill>
            <a:srgbClr val="F7F6F3"/>
          </a:solidFill>
          <a:ln/>
        </p:spPr>
      </p:sp>
      <p:sp>
        <p:nvSpPr>
          <p:cNvPr id="27" name="Text 25"/>
          <p:cNvSpPr/>
          <p:nvPr/>
        </p:nvSpPr>
        <p:spPr>
          <a:xfrm>
            <a:off x="1333500" y="8945880"/>
            <a:ext cx="490368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B64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Mono — single ink</a:t>
            </a:r>
            <a:endParaRPr lang="en-US" sz="1425" dirty="0"/>
          </a:p>
        </p:txBody>
      </p:sp>
      <p:sp>
        <p:nvSpPr>
          <p:cNvPr id="28" name="Shape 26"/>
          <p:cNvSpPr/>
          <p:nvPr/>
        </p:nvSpPr>
        <p:spPr>
          <a:xfrm>
            <a:off x="6578561" y="6196965"/>
            <a:ext cx="5130761" cy="259651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9" name="Shape 27"/>
          <p:cNvSpPr/>
          <p:nvPr/>
        </p:nvSpPr>
        <p:spPr>
          <a:xfrm>
            <a:off x="8323064" y="7247573"/>
            <a:ext cx="76200" cy="495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8532614" y="7188518"/>
            <a:ext cx="157542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358"/>
              </a:lnSpc>
              <a:buNone/>
            </a:pPr>
            <a:r>
              <a:rPr lang="en-US" sz="3150" b="1" spc="63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CURIUZ</a:t>
            </a:r>
            <a:endParaRPr lang="en-US" sz="3150" dirty="0"/>
          </a:p>
        </p:txBody>
      </p:sp>
      <p:sp>
        <p:nvSpPr>
          <p:cNvPr id="31" name="Text 29"/>
          <p:cNvSpPr/>
          <p:nvPr/>
        </p:nvSpPr>
        <p:spPr>
          <a:xfrm>
            <a:off x="8532614" y="7664768"/>
            <a:ext cx="1575423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330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TECHNOLOGIES</a:t>
            </a:r>
            <a:endParaRPr lang="en-US" sz="825" dirty="0"/>
          </a:p>
        </p:txBody>
      </p:sp>
      <p:sp>
        <p:nvSpPr>
          <p:cNvPr id="32" name="Shape 30"/>
          <p:cNvSpPr/>
          <p:nvPr/>
        </p:nvSpPr>
        <p:spPr>
          <a:xfrm>
            <a:off x="6578561" y="8793480"/>
            <a:ext cx="5130761" cy="5410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6769061" y="8945880"/>
            <a:ext cx="490368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B64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Knockout white</a:t>
            </a:r>
            <a:endParaRPr lang="en-US" sz="1425" dirty="0"/>
          </a:p>
        </p:txBody>
      </p:sp>
      <p:sp>
        <p:nvSpPr>
          <p:cNvPr id="34" name="Shape 32"/>
          <p:cNvSpPr/>
          <p:nvPr/>
        </p:nvSpPr>
        <p:spPr>
          <a:xfrm>
            <a:off x="12014121" y="6196965"/>
            <a:ext cx="5130761" cy="2596515"/>
          </a:xfrm>
          <a:prstGeom prst="rect">
            <a:avLst/>
          </a:prstGeom>
          <a:solidFill>
            <a:srgbClr val="EFEEE9"/>
          </a:solidFill>
          <a:ln/>
        </p:spPr>
      </p:sp>
      <p:sp>
        <p:nvSpPr>
          <p:cNvPr id="35" name="Shape 33"/>
          <p:cNvSpPr/>
          <p:nvPr/>
        </p:nvSpPr>
        <p:spPr>
          <a:xfrm>
            <a:off x="13758624" y="7247573"/>
            <a:ext cx="76200" cy="495300"/>
          </a:xfrm>
          <a:prstGeom prst="roundRect">
            <a:avLst>
              <a:gd name="adj" fmla="val 50000"/>
            </a:avLst>
          </a:prstGeom>
          <a:solidFill>
            <a:srgbClr val="10233B"/>
          </a:solidFill>
          <a:ln/>
        </p:spPr>
      </p:sp>
      <p:sp>
        <p:nvSpPr>
          <p:cNvPr id="36" name="Text 34"/>
          <p:cNvSpPr/>
          <p:nvPr/>
        </p:nvSpPr>
        <p:spPr>
          <a:xfrm>
            <a:off x="13968174" y="7188518"/>
            <a:ext cx="157542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358"/>
              </a:lnSpc>
              <a:buNone/>
            </a:pPr>
            <a:r>
              <a:rPr lang="en-US" sz="3150" b="1" spc="63" kern="0" dirty="0">
                <a:solidFill>
                  <a:srgbClr val="1023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CURIUZ</a:t>
            </a:r>
            <a:endParaRPr lang="en-US" sz="3150" dirty="0"/>
          </a:p>
        </p:txBody>
      </p:sp>
      <p:sp>
        <p:nvSpPr>
          <p:cNvPr id="37" name="Text 35"/>
          <p:cNvSpPr/>
          <p:nvPr/>
        </p:nvSpPr>
        <p:spPr>
          <a:xfrm>
            <a:off x="13968174" y="7664768"/>
            <a:ext cx="1575423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330" kern="0" dirty="0">
                <a:solidFill>
                  <a:srgbClr val="1023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TECHNOLOGIES</a:t>
            </a:r>
            <a:endParaRPr lang="en-US" sz="825" dirty="0"/>
          </a:p>
        </p:txBody>
      </p:sp>
      <p:sp>
        <p:nvSpPr>
          <p:cNvPr id="38" name="Shape 36"/>
          <p:cNvSpPr/>
          <p:nvPr/>
        </p:nvSpPr>
        <p:spPr>
          <a:xfrm>
            <a:off x="12014121" y="8793480"/>
            <a:ext cx="5130761" cy="5410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12204621" y="8945880"/>
            <a:ext cx="490368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B64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 busy background</a:t>
            </a:r>
            <a:endParaRPr lang="en-US" sz="14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90" kern="0" dirty="0">
                <a:solidFill>
                  <a:srgbClr val="B74B2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— CONSTRUCTION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443990"/>
            <a:ext cx="17602200" cy="815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023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Clearspace &amp; minimum size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754630"/>
            <a:ext cx="9395460" cy="6579870"/>
          </a:xfrm>
          <a:prstGeom prst="roundRect">
            <a:avLst>
              <a:gd name="adj" fmla="val 2895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217670" y="4594860"/>
            <a:ext cx="44291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3AF9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↕ X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674870" y="5139690"/>
            <a:ext cx="95250" cy="685800"/>
          </a:xfrm>
          <a:prstGeom prst="roundRect">
            <a:avLst>
              <a:gd name="adj" fmla="val 50000"/>
            </a:avLst>
          </a:prstGeom>
          <a:solidFill>
            <a:srgbClr val="C85B32"/>
          </a:solidFill>
          <a:ln/>
        </p:spPr>
      </p:sp>
      <p:sp>
        <p:nvSpPr>
          <p:cNvPr id="7" name="Text 5"/>
          <p:cNvSpPr/>
          <p:nvPr/>
        </p:nvSpPr>
        <p:spPr>
          <a:xfrm>
            <a:off x="4960620" y="5052060"/>
            <a:ext cx="225056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125"/>
              </a:lnSpc>
              <a:buNone/>
            </a:pPr>
            <a:r>
              <a:rPr lang="en-US" sz="4500" b="1" spc="90" kern="0" dirty="0">
                <a:solidFill>
                  <a:srgbClr val="1023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CURIUZ</a:t>
            </a:r>
            <a:endParaRPr lang="en-US" sz="4500" dirty="0"/>
          </a:p>
        </p:txBody>
      </p:sp>
      <p:sp>
        <p:nvSpPr>
          <p:cNvPr id="8" name="Text 6"/>
          <p:cNvSpPr/>
          <p:nvPr/>
        </p:nvSpPr>
        <p:spPr>
          <a:xfrm>
            <a:off x="4960620" y="5737860"/>
            <a:ext cx="2250567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95" kern="0" dirty="0">
                <a:solidFill>
                  <a:srgbClr val="5B647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TECHNOLOGIES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2701290" y="6960870"/>
            <a:ext cx="627888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071"/>
              </a:lnSpc>
              <a:buNone/>
            </a:pPr>
            <a:r>
              <a:rPr lang="en-US" sz="195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Keep clearspace of </a:t>
            </a:r>
            <a:pPr algn="ctr" indent="0" marL="0">
              <a:lnSpc>
                <a:spcPct val="116071"/>
              </a:lnSpc>
              <a:buNone/>
            </a:pPr>
            <a:r>
              <a:rPr lang="en-US" sz="1950" b="1" dirty="0">
                <a:solidFill>
                  <a:srgbClr val="1023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 </a:t>
            </a:r>
            <a:pPr algn="ctr" indent="0" marL="0">
              <a:lnSpc>
                <a:spcPct val="116071"/>
              </a:lnSpc>
              <a:buNone/>
            </a:pPr>
            <a:r>
              <a:rPr lang="en-US" sz="195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all sides — X equals the cap-height of “CURIUZ”.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0881360" y="2754630"/>
            <a:ext cx="6263640" cy="6579870"/>
          </a:xfrm>
          <a:prstGeom prst="roundRect">
            <a:avLst>
              <a:gd name="adj" fmla="val 3041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11452860" y="4138613"/>
            <a:ext cx="57150" cy="285750"/>
          </a:xfrm>
          <a:prstGeom prst="roundRect">
            <a:avLst>
              <a:gd name="adj" fmla="val 50000"/>
            </a:avLst>
          </a:prstGeom>
          <a:solidFill>
            <a:srgbClr val="C85B32"/>
          </a:solidFill>
          <a:ln/>
        </p:spPr>
      </p:sp>
      <p:sp>
        <p:nvSpPr>
          <p:cNvPr id="12" name="Text 10"/>
          <p:cNvSpPr/>
          <p:nvPr/>
        </p:nvSpPr>
        <p:spPr>
          <a:xfrm>
            <a:off x="11605260" y="4113847"/>
            <a:ext cx="999053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023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CURIUZ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1452860" y="4622483"/>
            <a:ext cx="563270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B64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Digital min — 120px wide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1452860" y="5315903"/>
            <a:ext cx="5120640" cy="9525"/>
          </a:xfrm>
          <a:prstGeom prst="rect">
            <a:avLst/>
          </a:prstGeom>
          <a:solidFill>
            <a:srgbClr val="E4E2DA"/>
          </a:solidFill>
          <a:ln/>
        </p:spPr>
      </p:sp>
      <p:sp>
        <p:nvSpPr>
          <p:cNvPr id="15" name="Shape 13"/>
          <p:cNvSpPr/>
          <p:nvPr/>
        </p:nvSpPr>
        <p:spPr>
          <a:xfrm>
            <a:off x="11452860" y="5761673"/>
            <a:ext cx="38100" cy="209550"/>
          </a:xfrm>
          <a:prstGeom prst="roundRect">
            <a:avLst>
              <a:gd name="adj" fmla="val 50000"/>
            </a:avLst>
          </a:prstGeom>
          <a:solidFill>
            <a:srgbClr val="C85B32"/>
          </a:solidFill>
          <a:ln/>
        </p:spPr>
      </p:sp>
      <p:sp>
        <p:nvSpPr>
          <p:cNvPr id="16" name="Text 14"/>
          <p:cNvSpPr/>
          <p:nvPr/>
        </p:nvSpPr>
        <p:spPr>
          <a:xfrm>
            <a:off x="11538585" y="5744528"/>
            <a:ext cx="19895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3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52860" y="6140768"/>
            <a:ext cx="563270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B64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Icon min — 16px favicon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1452860" y="6834188"/>
            <a:ext cx="5120640" cy="9525"/>
          </a:xfrm>
          <a:prstGeom prst="rect">
            <a:avLst/>
          </a:prstGeom>
          <a:solidFill>
            <a:srgbClr val="E4E2DA"/>
          </a:solidFill>
          <a:ln/>
        </p:spPr>
      </p:sp>
      <p:sp>
        <p:nvSpPr>
          <p:cNvPr id="19" name="Text 17"/>
          <p:cNvSpPr/>
          <p:nvPr/>
        </p:nvSpPr>
        <p:spPr>
          <a:xfrm>
            <a:off x="11452860" y="7262813"/>
            <a:ext cx="5274260" cy="750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61"/>
              </a:lnSpc>
              <a:buNone/>
            </a:pPr>
            <a:r>
              <a:rPr lang="en-US" sz="1650" dirty="0">
                <a:solidFill>
                  <a:srgbClr val="5B64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 min — 25mm wide Below min → icon only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90" kern="0" dirty="0">
                <a:solidFill>
                  <a:srgbClr val="F280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— ICON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443990"/>
            <a:ext cx="17602200" cy="815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App icon, avatar &amp; favicon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4815840" y="4488180"/>
            <a:ext cx="2095500" cy="2095500"/>
          </a:xfrm>
          <a:prstGeom prst="roundRect">
            <a:avLst>
              <a:gd name="adj" fmla="val 22727"/>
            </a:avLst>
          </a:prstGeom>
          <a:solidFill>
            <a:srgbClr val="0A1626"/>
          </a:solidFill>
          <a:ln/>
        </p:spPr>
      </p:sp>
      <p:sp>
        <p:nvSpPr>
          <p:cNvPr id="5" name="Shape 3"/>
          <p:cNvSpPr/>
          <p:nvPr/>
        </p:nvSpPr>
        <p:spPr>
          <a:xfrm>
            <a:off x="5439728" y="5078730"/>
            <a:ext cx="133350" cy="914400"/>
          </a:xfrm>
          <a:prstGeom prst="roundRect">
            <a:avLst>
              <a:gd name="adj" fmla="val 50000"/>
            </a:avLst>
          </a:prstGeom>
          <a:solidFill>
            <a:srgbClr val="F28058"/>
          </a:solidFill>
          <a:ln/>
        </p:spPr>
      </p:sp>
      <p:sp>
        <p:nvSpPr>
          <p:cNvPr id="6" name="Text 4"/>
          <p:cNvSpPr/>
          <p:nvPr/>
        </p:nvSpPr>
        <p:spPr>
          <a:xfrm>
            <a:off x="5611178" y="4903470"/>
            <a:ext cx="714256" cy="1303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</a:t>
            </a:r>
            <a:endParaRPr lang="en-US" sz="7800" dirty="0"/>
          </a:p>
        </p:txBody>
      </p:sp>
      <p:sp>
        <p:nvSpPr>
          <p:cNvPr id="7" name="Text 5"/>
          <p:cNvSpPr/>
          <p:nvPr/>
        </p:nvSpPr>
        <p:spPr>
          <a:xfrm>
            <a:off x="4711065" y="6793230"/>
            <a:ext cx="23050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9FB0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 · 220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673340" y="4821555"/>
            <a:ext cx="1428750" cy="1428750"/>
          </a:xfrm>
          <a:prstGeom prst="ellipse">
            <a:avLst/>
          </a:prstGeom>
          <a:solidFill>
            <a:srgbClr val="C85B32"/>
          </a:solidFill>
          <a:ln/>
        </p:spPr>
      </p:sp>
      <p:sp>
        <p:nvSpPr>
          <p:cNvPr id="9" name="Shape 7"/>
          <p:cNvSpPr/>
          <p:nvPr/>
        </p:nvSpPr>
        <p:spPr>
          <a:xfrm>
            <a:off x="8106251" y="5231130"/>
            <a:ext cx="85725" cy="609600"/>
          </a:xfrm>
          <a:prstGeom prst="roundRect">
            <a:avLst>
              <a:gd name="adj" fmla="val 50000"/>
            </a:avLst>
          </a:prstGeom>
          <a:solidFill>
            <a:srgbClr val="10233B"/>
          </a:solidFill>
          <a:ln/>
        </p:spPr>
      </p:sp>
      <p:sp>
        <p:nvSpPr>
          <p:cNvPr id="10" name="Text 8"/>
          <p:cNvSpPr/>
          <p:nvPr/>
        </p:nvSpPr>
        <p:spPr>
          <a:xfrm>
            <a:off x="8201501" y="5109210"/>
            <a:ext cx="505658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2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</a:t>
            </a:r>
            <a:endParaRPr lang="en-US" sz="5250" dirty="0"/>
          </a:p>
        </p:txBody>
      </p:sp>
      <p:sp>
        <p:nvSpPr>
          <p:cNvPr id="11" name="Text 9"/>
          <p:cNvSpPr/>
          <p:nvPr/>
        </p:nvSpPr>
        <p:spPr>
          <a:xfrm>
            <a:off x="7597902" y="6459855"/>
            <a:ext cx="165963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9FB0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Avatar · 150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9944100" y="5059680"/>
            <a:ext cx="952500" cy="952500"/>
          </a:xfrm>
          <a:prstGeom prst="roundRect">
            <a:avLst>
              <a:gd name="adj" fmla="val 24000"/>
            </a:avLst>
          </a:prstGeom>
          <a:solidFill>
            <a:srgbClr val="0A162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220682" y="5326380"/>
            <a:ext cx="66675" cy="419100"/>
          </a:xfrm>
          <a:prstGeom prst="roundRect">
            <a:avLst>
              <a:gd name="adj" fmla="val 50000"/>
            </a:avLst>
          </a:prstGeom>
          <a:solidFill>
            <a:srgbClr val="F28058"/>
          </a:solidFill>
          <a:ln/>
        </p:spPr>
      </p:sp>
      <p:sp>
        <p:nvSpPr>
          <p:cNvPr id="14" name="Text 12"/>
          <p:cNvSpPr/>
          <p:nvPr/>
        </p:nvSpPr>
        <p:spPr>
          <a:xfrm>
            <a:off x="10287357" y="5242560"/>
            <a:ext cx="370642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9881235" y="6221730"/>
            <a:ext cx="138303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9FB0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Tile · 100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1963400" y="5269230"/>
            <a:ext cx="533400" cy="533400"/>
          </a:xfrm>
          <a:prstGeom prst="roundRect">
            <a:avLst>
              <a:gd name="adj" fmla="val 23214"/>
            </a:avLst>
          </a:prstGeom>
          <a:solidFill>
            <a:srgbClr val="0A1626"/>
          </a:solidFill>
          <a:ln/>
        </p:spPr>
      </p:sp>
      <p:sp>
        <p:nvSpPr>
          <p:cNvPr id="17" name="Shape 15"/>
          <p:cNvSpPr/>
          <p:nvPr/>
        </p:nvSpPr>
        <p:spPr>
          <a:xfrm>
            <a:off x="12118658" y="5421630"/>
            <a:ext cx="38100" cy="228600"/>
          </a:xfrm>
          <a:prstGeom prst="roundRect">
            <a:avLst>
              <a:gd name="adj" fmla="val 50000"/>
            </a:avLst>
          </a:prstGeom>
          <a:solidFill>
            <a:srgbClr val="F28058"/>
          </a:solidFill>
          <a:ln/>
        </p:spPr>
      </p:sp>
      <p:sp>
        <p:nvSpPr>
          <p:cNvPr id="18" name="Text 16"/>
          <p:cNvSpPr/>
          <p:nvPr/>
        </p:nvSpPr>
        <p:spPr>
          <a:xfrm>
            <a:off x="12137708" y="5372100"/>
            <a:ext cx="241935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11887962" y="6012180"/>
            <a:ext cx="165963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9FB0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Favicon · 56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90" kern="0" dirty="0">
                <a:solidFill>
                  <a:srgbClr val="B74B2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— COLOR PALETTE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443990"/>
            <a:ext cx="17602200" cy="815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023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Palette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754630"/>
            <a:ext cx="3771900" cy="6579870"/>
          </a:xfrm>
          <a:prstGeom prst="roundRect">
            <a:avLst>
              <a:gd name="adj" fmla="val 5051"/>
            </a:avLst>
          </a:prstGeom>
          <a:ln w="7620">
            <a:solidFill>
              <a:srgbClr val="E4E2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0620" y="2762250"/>
            <a:ext cx="3756660" cy="4941570"/>
          </a:xfrm>
          <a:prstGeom prst="rect">
            <a:avLst/>
          </a:prstGeom>
          <a:solidFill>
            <a:srgbClr val="10233B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7970520"/>
            <a:ext cx="3545586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3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Deep Navy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417320" y="8450580"/>
            <a:ext cx="331995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212"/>
              </a:lnSpc>
              <a:buNone/>
            </a:pPr>
            <a:r>
              <a:rPr lang="en-US" sz="1500" dirty="0">
                <a:solidFill>
                  <a:srgbClr val="5B64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#10233B Primary · text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219700" y="2754630"/>
            <a:ext cx="3771900" cy="6579870"/>
          </a:xfrm>
          <a:prstGeom prst="roundRect">
            <a:avLst>
              <a:gd name="adj" fmla="val 5051"/>
            </a:avLst>
          </a:prstGeom>
          <a:ln w="7620">
            <a:solidFill>
              <a:srgbClr val="E4E2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27320" y="2762250"/>
            <a:ext cx="3756660" cy="4941570"/>
          </a:xfrm>
          <a:prstGeom prst="rect">
            <a:avLst/>
          </a:prstGeom>
          <a:solidFill>
            <a:srgbClr val="C85B32"/>
          </a:solidFill>
          <a:ln/>
        </p:spPr>
      </p:sp>
      <p:sp>
        <p:nvSpPr>
          <p:cNvPr id="10" name="Text 8"/>
          <p:cNvSpPr/>
          <p:nvPr/>
        </p:nvSpPr>
        <p:spPr>
          <a:xfrm>
            <a:off x="5494020" y="7970520"/>
            <a:ext cx="3545586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3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Ember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5494020" y="8450580"/>
            <a:ext cx="331995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212"/>
              </a:lnSpc>
              <a:buNone/>
            </a:pPr>
            <a:r>
              <a:rPr lang="en-US" sz="1500" dirty="0">
                <a:solidFill>
                  <a:srgbClr val="5B64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oklch(.60 .15 40) Accent · the spark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296400" y="2754630"/>
            <a:ext cx="3771900" cy="6579870"/>
          </a:xfrm>
          <a:prstGeom prst="roundRect">
            <a:avLst>
              <a:gd name="adj" fmla="val 5051"/>
            </a:avLst>
          </a:prstGeom>
          <a:ln w="7620">
            <a:solidFill>
              <a:srgbClr val="E4E2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04020" y="2762250"/>
            <a:ext cx="3756660" cy="4941570"/>
          </a:xfrm>
          <a:prstGeom prst="rect">
            <a:avLst/>
          </a:prstGeom>
          <a:solidFill>
            <a:srgbClr val="F7F6F3"/>
          </a:solidFill>
          <a:ln/>
        </p:spPr>
      </p:sp>
      <p:sp>
        <p:nvSpPr>
          <p:cNvPr id="14" name="Shape 12"/>
          <p:cNvSpPr/>
          <p:nvPr/>
        </p:nvSpPr>
        <p:spPr>
          <a:xfrm>
            <a:off x="9304020" y="7696200"/>
            <a:ext cx="3756660" cy="9525"/>
          </a:xfrm>
          <a:prstGeom prst="rect">
            <a:avLst/>
          </a:prstGeom>
          <a:solidFill>
            <a:srgbClr val="E4E2DA"/>
          </a:solidFill>
          <a:ln/>
        </p:spPr>
      </p:sp>
      <p:sp>
        <p:nvSpPr>
          <p:cNvPr id="15" name="Text 13"/>
          <p:cNvSpPr/>
          <p:nvPr/>
        </p:nvSpPr>
        <p:spPr>
          <a:xfrm>
            <a:off x="9570720" y="7970520"/>
            <a:ext cx="3545586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3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Paper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570720" y="8450580"/>
            <a:ext cx="331995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212"/>
              </a:lnSpc>
              <a:buNone/>
            </a:pPr>
            <a:r>
              <a:rPr lang="en-US" sz="1500" dirty="0">
                <a:solidFill>
                  <a:srgbClr val="5B64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#F7F6F3 Background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3373100" y="2754630"/>
            <a:ext cx="3771900" cy="6579870"/>
          </a:xfrm>
          <a:prstGeom prst="roundRect">
            <a:avLst>
              <a:gd name="adj" fmla="val 5051"/>
            </a:avLst>
          </a:prstGeom>
          <a:ln w="7620">
            <a:solidFill>
              <a:srgbClr val="E4E2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380720" y="2762250"/>
            <a:ext cx="3756660" cy="494157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19" name="Text 17"/>
          <p:cNvSpPr/>
          <p:nvPr/>
        </p:nvSpPr>
        <p:spPr>
          <a:xfrm>
            <a:off x="13647420" y="7970520"/>
            <a:ext cx="3545586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3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Slate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3647420" y="8450580"/>
            <a:ext cx="331995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212"/>
              </a:lnSpc>
              <a:buNone/>
            </a:pPr>
            <a:r>
              <a:rPr lang="en-US" sz="1500" dirty="0">
                <a:solidFill>
                  <a:srgbClr val="5B64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#5B6472 Secondary text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90" kern="0" dirty="0">
                <a:solidFill>
                  <a:srgbClr val="B74B2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— TYPE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443990"/>
            <a:ext cx="17602200" cy="815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023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Typography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754630"/>
            <a:ext cx="7829550" cy="6579870"/>
          </a:xfrm>
          <a:prstGeom prst="roundRect">
            <a:avLst>
              <a:gd name="adj" fmla="val 2895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752600" y="4440555"/>
            <a:ext cx="7271385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125"/>
              </a:lnSpc>
              <a:buNone/>
            </a:pPr>
            <a:r>
              <a:rPr lang="en-US" sz="11250" b="1" dirty="0">
                <a:solidFill>
                  <a:srgbClr val="1023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Aa</a:t>
            </a:r>
            <a:endParaRPr lang="en-US" sz="11250" dirty="0"/>
          </a:p>
        </p:txBody>
      </p:sp>
      <p:sp>
        <p:nvSpPr>
          <p:cNvPr id="6" name="Text 4"/>
          <p:cNvSpPr/>
          <p:nvPr/>
        </p:nvSpPr>
        <p:spPr>
          <a:xfrm>
            <a:off x="1752600" y="6193155"/>
            <a:ext cx="7271385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023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Space Grotesk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752600" y="6791325"/>
            <a:ext cx="727138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B64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Brand · headlines · logo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752600" y="7313295"/>
            <a:ext cx="7271385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42" kern="0" dirty="0">
                <a:solidFill>
                  <a:srgbClr val="5B647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ABCDEFGHIJKLM · 1234567890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315450" y="2754630"/>
            <a:ext cx="7829550" cy="6579870"/>
          </a:xfrm>
          <a:prstGeom prst="roundRect">
            <a:avLst>
              <a:gd name="adj" fmla="val 2895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9925050" y="4432935"/>
            <a:ext cx="7271385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844"/>
              </a:lnSpc>
              <a:buNone/>
            </a:pPr>
            <a:r>
              <a:rPr lang="en-US" sz="11250" b="1" dirty="0">
                <a:solidFill>
                  <a:srgbClr val="1023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Aa</a:t>
            </a:r>
            <a:endParaRPr lang="en-US" sz="11250" dirty="0"/>
          </a:p>
        </p:txBody>
      </p:sp>
      <p:sp>
        <p:nvSpPr>
          <p:cNvPr id="11" name="Text 9"/>
          <p:cNvSpPr/>
          <p:nvPr/>
        </p:nvSpPr>
        <p:spPr>
          <a:xfrm>
            <a:off x="9925050" y="6185535"/>
            <a:ext cx="7271385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023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IBM Plex Sans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9925050" y="6783705"/>
            <a:ext cx="727138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B64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Body · UI · long-form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925050" y="7305675"/>
            <a:ext cx="727138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abcdefghijklm · 1234567890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90" kern="0" dirty="0">
                <a:solidFill>
                  <a:srgbClr val="B74B2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— IN USE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443990"/>
            <a:ext cx="17602200" cy="815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023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Applications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678430"/>
            <a:ext cx="16002000" cy="1851660"/>
          </a:xfrm>
          <a:prstGeom prst="roundRect">
            <a:avLst>
              <a:gd name="adj" fmla="val 10288"/>
            </a:avLst>
          </a:prstGeom>
          <a:solidFill>
            <a:srgbClr val="10233B"/>
          </a:solidFill>
          <a:ln/>
        </p:spPr>
      </p:sp>
      <p:sp>
        <p:nvSpPr>
          <p:cNvPr id="5" name="Shape 3"/>
          <p:cNvSpPr/>
          <p:nvPr/>
        </p:nvSpPr>
        <p:spPr>
          <a:xfrm>
            <a:off x="1752600" y="3299460"/>
            <a:ext cx="95250" cy="609600"/>
          </a:xfrm>
          <a:prstGeom prst="roundRect">
            <a:avLst>
              <a:gd name="adj" fmla="val 50000"/>
            </a:avLst>
          </a:prstGeom>
          <a:solidFill>
            <a:srgbClr val="F28058"/>
          </a:solidFill>
          <a:ln/>
        </p:spPr>
      </p:sp>
      <p:sp>
        <p:nvSpPr>
          <p:cNvPr id="6" name="Text 4"/>
          <p:cNvSpPr/>
          <p:nvPr/>
        </p:nvSpPr>
        <p:spPr>
          <a:xfrm>
            <a:off x="2038350" y="3211830"/>
            <a:ext cx="1950518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313"/>
              </a:lnSpc>
              <a:buNone/>
            </a:pPr>
            <a:r>
              <a:rPr lang="en-US" sz="3900" b="1" spc="78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CURIUZ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2038350" y="3821430"/>
            <a:ext cx="1950518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95" kern="0" dirty="0">
                <a:solidFill>
                  <a:srgbClr val="9FB0C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TECHNOLOGIES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14576465" y="3436620"/>
            <a:ext cx="2154829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42" kern="0" dirty="0">
                <a:solidFill>
                  <a:srgbClr val="F2805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Think Forward.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143000" y="4834890"/>
            <a:ext cx="7848600" cy="4499610"/>
          </a:xfrm>
          <a:prstGeom prst="roundRect">
            <a:avLst>
              <a:gd name="adj" fmla="val 4234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" y="4834890"/>
            <a:ext cx="7848600" cy="579120"/>
          </a:xfrm>
          <a:prstGeom prst="rect">
            <a:avLst/>
          </a:prstGeom>
          <a:solidFill>
            <a:srgbClr val="F2F0EA"/>
          </a:solidFill>
          <a:ln/>
        </p:spPr>
      </p:sp>
      <p:sp>
        <p:nvSpPr>
          <p:cNvPr id="11" name="Text 9"/>
          <p:cNvSpPr/>
          <p:nvPr/>
        </p:nvSpPr>
        <p:spPr>
          <a:xfrm>
            <a:off x="1409700" y="5006340"/>
            <a:ext cx="755065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B64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BUSINESS CARD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1600200" y="5939790"/>
            <a:ext cx="66675" cy="419100"/>
          </a:xfrm>
          <a:prstGeom prst="roundRect">
            <a:avLst>
              <a:gd name="adj" fmla="val 50000"/>
            </a:avLst>
          </a:prstGeom>
          <a:solidFill>
            <a:srgbClr val="C85B32"/>
          </a:solidFill>
          <a:ln/>
        </p:spPr>
      </p:sp>
      <p:sp>
        <p:nvSpPr>
          <p:cNvPr id="13" name="Text 11"/>
          <p:cNvSpPr/>
          <p:nvPr/>
        </p:nvSpPr>
        <p:spPr>
          <a:xfrm>
            <a:off x="1800225" y="5871210"/>
            <a:ext cx="136744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947"/>
              </a:lnSpc>
              <a:buNone/>
            </a:pPr>
            <a:r>
              <a:rPr lang="en-US" sz="2700" b="1" spc="54" kern="0" dirty="0">
                <a:solidFill>
                  <a:srgbClr val="1023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CURIUZ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800225" y="6290310"/>
            <a:ext cx="1367445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330" kern="0" dirty="0">
                <a:solidFill>
                  <a:srgbClr val="5B647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TECHNOLOGIES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1600200" y="8210550"/>
            <a:ext cx="762762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023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Alex Morgan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600200" y="8602980"/>
            <a:ext cx="762762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Principal Consultant · alex@curiuz.com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9296400" y="4834890"/>
            <a:ext cx="7848600" cy="4499610"/>
          </a:xfrm>
          <a:prstGeom prst="roundRect">
            <a:avLst>
              <a:gd name="adj" fmla="val 4234"/>
            </a:avLst>
          </a:prstGeom>
          <a:solidFill>
            <a:srgbClr val="C85B32"/>
          </a:solidFill>
          <a:ln/>
        </p:spPr>
      </p:sp>
      <p:sp>
        <p:nvSpPr>
          <p:cNvPr id="18" name="Text 16"/>
          <p:cNvSpPr/>
          <p:nvPr/>
        </p:nvSpPr>
        <p:spPr>
          <a:xfrm>
            <a:off x="9753600" y="5292090"/>
            <a:ext cx="76276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3A1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SOCIAL / OG CARD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9753600" y="7433310"/>
            <a:ext cx="85725" cy="457200"/>
          </a:xfrm>
          <a:prstGeom prst="roundRect">
            <a:avLst>
              <a:gd name="adj" fmla="val 50000"/>
            </a:avLst>
          </a:prstGeom>
          <a:solidFill>
            <a:srgbClr val="10233B"/>
          </a:solidFill>
          <a:ln/>
        </p:spPr>
      </p:sp>
      <p:sp>
        <p:nvSpPr>
          <p:cNvPr id="20" name="Text 18"/>
          <p:cNvSpPr/>
          <p:nvPr/>
        </p:nvSpPr>
        <p:spPr>
          <a:xfrm>
            <a:off x="9991725" y="7379970"/>
            <a:ext cx="1725513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69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CURIUZ</a:t>
            </a:r>
            <a:endParaRPr lang="en-US" sz="3450" dirty="0"/>
          </a:p>
        </p:txBody>
      </p:sp>
      <p:sp>
        <p:nvSpPr>
          <p:cNvPr id="21" name="Text 19"/>
          <p:cNvSpPr/>
          <p:nvPr/>
        </p:nvSpPr>
        <p:spPr>
          <a:xfrm>
            <a:off x="9753600" y="8153400"/>
            <a:ext cx="762762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Technology · Consulting · AI Products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753600" y="8602980"/>
            <a:ext cx="762762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A1A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curiuz.com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90" kern="0" dirty="0">
                <a:solidFill>
                  <a:srgbClr val="B74B2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— PRODUCT FAMILY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443990"/>
            <a:ext cx="17602200" cy="815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023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Premyz — the family extension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143000" y="2335530"/>
            <a:ext cx="10791825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bar device, same typeface — a distinct accent (Iris) marks the product while staying visibly part of Curiuz.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143000" y="3493770"/>
            <a:ext cx="7829550" cy="5840730"/>
          </a:xfrm>
          <a:prstGeom prst="roundRect">
            <a:avLst>
              <a:gd name="adj" fmla="val 3262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3555444" y="6042660"/>
            <a:ext cx="114300" cy="742950"/>
          </a:xfrm>
          <a:prstGeom prst="roundRect">
            <a:avLst>
              <a:gd name="adj" fmla="val 50000"/>
            </a:avLst>
          </a:prstGeom>
          <a:solidFill>
            <a:srgbClr val="7970D5"/>
          </a:solidFill>
          <a:ln/>
        </p:spPr>
      </p:sp>
      <p:sp>
        <p:nvSpPr>
          <p:cNvPr id="7" name="Text 5"/>
          <p:cNvSpPr/>
          <p:nvPr/>
        </p:nvSpPr>
        <p:spPr>
          <a:xfrm>
            <a:off x="3898344" y="5924550"/>
            <a:ext cx="292793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125"/>
              </a:lnSpc>
              <a:buNone/>
            </a:pPr>
            <a:r>
              <a:rPr lang="en-US" sz="5250" b="1" spc="105" kern="0" dirty="0">
                <a:solidFill>
                  <a:srgbClr val="1023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PREMYZ</a:t>
            </a:r>
            <a:endParaRPr lang="en-US" sz="5250" dirty="0"/>
          </a:p>
        </p:txBody>
      </p:sp>
      <p:sp>
        <p:nvSpPr>
          <p:cNvPr id="8" name="Text 6"/>
          <p:cNvSpPr/>
          <p:nvPr/>
        </p:nvSpPr>
        <p:spPr>
          <a:xfrm>
            <a:off x="3898344" y="6705600"/>
            <a:ext cx="292793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480" kern="0" dirty="0">
                <a:solidFill>
                  <a:srgbClr val="5B647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BY CURIUZ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315450" y="3493770"/>
            <a:ext cx="7829550" cy="5840730"/>
          </a:xfrm>
          <a:prstGeom prst="roundRect">
            <a:avLst>
              <a:gd name="adj" fmla="val 3262"/>
            </a:avLst>
          </a:prstGeom>
          <a:solidFill>
            <a:srgbClr val="10233B"/>
          </a:solidFill>
          <a:ln/>
        </p:spPr>
      </p:sp>
      <p:sp>
        <p:nvSpPr>
          <p:cNvPr id="10" name="Shape 8"/>
          <p:cNvSpPr/>
          <p:nvPr/>
        </p:nvSpPr>
        <p:spPr>
          <a:xfrm>
            <a:off x="11727895" y="6042660"/>
            <a:ext cx="114300" cy="742950"/>
          </a:xfrm>
          <a:prstGeom prst="roundRect">
            <a:avLst>
              <a:gd name="adj" fmla="val 50000"/>
            </a:avLst>
          </a:prstGeom>
          <a:solidFill>
            <a:srgbClr val="9C95FE"/>
          </a:solidFill>
          <a:ln/>
        </p:spPr>
      </p:sp>
      <p:sp>
        <p:nvSpPr>
          <p:cNvPr id="11" name="Text 9"/>
          <p:cNvSpPr/>
          <p:nvPr/>
        </p:nvSpPr>
        <p:spPr>
          <a:xfrm>
            <a:off x="12070795" y="5924550"/>
            <a:ext cx="292793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125"/>
              </a:lnSpc>
              <a:buNone/>
            </a:pPr>
            <a:r>
              <a:rPr lang="en-US" sz="5250" b="1" spc="105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PREMYZ</a:t>
            </a:r>
            <a:endParaRPr lang="en-US" sz="5250" dirty="0"/>
          </a:p>
        </p:txBody>
      </p:sp>
      <p:sp>
        <p:nvSpPr>
          <p:cNvPr id="12" name="Text 10"/>
          <p:cNvSpPr/>
          <p:nvPr/>
        </p:nvSpPr>
        <p:spPr>
          <a:xfrm>
            <a:off x="12070795" y="6705600"/>
            <a:ext cx="292793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480" kern="0" dirty="0">
                <a:solidFill>
                  <a:srgbClr val="9FB0C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BY CURIUZ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90" kern="0" dirty="0">
                <a:solidFill>
                  <a:srgbClr val="B74B2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— GUARDRAILS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443990"/>
            <a:ext cx="17602200" cy="815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023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not to do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754630"/>
            <a:ext cx="3771900" cy="6579870"/>
          </a:xfrm>
          <a:prstGeom prst="roundRect">
            <a:avLst>
              <a:gd name="adj" fmla="val 5051"/>
            </a:avLst>
          </a:prstGeom>
          <a:ln w="7620">
            <a:solidFill>
              <a:srgbClr val="E4E2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0620" y="2762250"/>
            <a:ext cx="3756660" cy="5848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2236611" y="5476875"/>
            <a:ext cx="171168" cy="419100"/>
          </a:xfrm>
          <a:prstGeom prst="rect">
            <a:avLst/>
          </a:prstGeom>
          <a:solidFill>
            <a:srgbClr val="C85B32"/>
          </a:solidFill>
          <a:ln/>
        </p:spPr>
      </p:sp>
      <p:sp>
        <p:nvSpPr>
          <p:cNvPr id="7" name="Text 5"/>
          <p:cNvSpPr/>
          <p:nvPr/>
        </p:nvSpPr>
        <p:spPr>
          <a:xfrm>
            <a:off x="2389986" y="5442585"/>
            <a:ext cx="1583838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92" b="1" dirty="0">
                <a:solidFill>
                  <a:srgbClr val="1023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CURIUZ</a:t>
            </a:r>
            <a:endParaRPr lang="en-US" sz="3092" dirty="0"/>
          </a:p>
        </p:txBody>
      </p:sp>
      <p:sp>
        <p:nvSpPr>
          <p:cNvPr id="8" name="Text 6"/>
          <p:cNvSpPr/>
          <p:nvPr/>
        </p:nvSpPr>
        <p:spPr>
          <a:xfrm>
            <a:off x="1379220" y="8839200"/>
            <a:ext cx="341216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B040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✕ Skew or distort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219700" y="2754630"/>
            <a:ext cx="3771900" cy="6579870"/>
          </a:xfrm>
          <a:prstGeom prst="roundRect">
            <a:avLst>
              <a:gd name="adj" fmla="val 5051"/>
            </a:avLst>
          </a:prstGeom>
          <a:ln w="7620">
            <a:solidFill>
              <a:srgbClr val="E4E2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27320" y="2762250"/>
            <a:ext cx="3756660" cy="5848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365557" y="5476875"/>
            <a:ext cx="66675" cy="419100"/>
          </a:xfrm>
          <a:prstGeom prst="rect">
            <a:avLst/>
          </a:prstGeom>
          <a:solidFill>
            <a:srgbClr val="189A30"/>
          </a:solidFill>
          <a:ln/>
        </p:spPr>
      </p:sp>
      <p:sp>
        <p:nvSpPr>
          <p:cNvPr id="12" name="Text 10"/>
          <p:cNvSpPr/>
          <p:nvPr/>
        </p:nvSpPr>
        <p:spPr>
          <a:xfrm>
            <a:off x="6527482" y="5442585"/>
            <a:ext cx="1450086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89A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CURIUZ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455920" y="8839200"/>
            <a:ext cx="341216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B040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✕ Recolor freely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296400" y="2754630"/>
            <a:ext cx="3771900" cy="6579870"/>
          </a:xfrm>
          <a:prstGeom prst="roundRect">
            <a:avLst>
              <a:gd name="adj" fmla="val 5051"/>
            </a:avLst>
          </a:prstGeom>
          <a:ln w="7620">
            <a:solidFill>
              <a:srgbClr val="E4E2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04020" y="2762250"/>
            <a:ext cx="3756660" cy="5848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124" y="5469255"/>
            <a:ext cx="1467767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i="1" dirty="0">
                <a:solidFill>
                  <a:srgbClr val="102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Curiuz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532620" y="8839200"/>
            <a:ext cx="341216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B040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✕ Change the font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3373100" y="2754630"/>
            <a:ext cx="3771900" cy="6579870"/>
          </a:xfrm>
          <a:prstGeom prst="roundRect">
            <a:avLst>
              <a:gd name="adj" fmla="val 5051"/>
            </a:avLst>
          </a:prstGeom>
          <a:ln w="7620">
            <a:solidFill>
              <a:srgbClr val="E4E2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380720" y="2762250"/>
            <a:ext cx="3756660" cy="5848350"/>
          </a:xfrm>
          <a:prstGeom prst="rect">
            <a:avLst/>
          </a:prstGeom>
          <a:solidFill>
            <a:srgbClr val="D8D5CC"/>
          </a:solidFill>
          <a:ln/>
        </p:spPr>
      </p:sp>
      <p:sp>
        <p:nvSpPr>
          <p:cNvPr id="20" name="Shape 18"/>
          <p:cNvSpPr/>
          <p:nvPr/>
        </p:nvSpPr>
        <p:spPr>
          <a:xfrm>
            <a:off x="14518958" y="5476875"/>
            <a:ext cx="66675" cy="419100"/>
          </a:xfrm>
          <a:prstGeom prst="rect">
            <a:avLst/>
          </a:prstGeom>
          <a:solidFill>
            <a:srgbClr val="C85B32"/>
          </a:solidFill>
          <a:ln/>
        </p:spPr>
      </p:sp>
      <p:sp>
        <p:nvSpPr>
          <p:cNvPr id="21" name="Text 19"/>
          <p:cNvSpPr/>
          <p:nvPr/>
        </p:nvSpPr>
        <p:spPr>
          <a:xfrm>
            <a:off x="14680883" y="5442585"/>
            <a:ext cx="1450086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3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CURIUZ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3609320" y="8839200"/>
            <a:ext cx="341216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B040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✕ Low contrast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2026-07-23T10:54:21Z</dcterms:created>
  <dcterms:modified xsi:type="dcterms:W3CDTF">2026-07-23T10:54:21Z</dcterms:modified>
</cp:coreProperties>
</file>